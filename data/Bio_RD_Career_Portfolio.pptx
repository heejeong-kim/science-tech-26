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Noto Sans K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4f0faac9-7dda-4a28-8de0-287b416c4988.fntdata" /><ns0:Relationship Id="rIdFont14" Type="http://schemas.openxmlformats.org/officeDocument/2006/relationships/font" Target="fonts/6415f57e-44eb-4df8-8162-9d50be4044d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1806"/>
            <a:ext cx="10972800" cy="1447800"/>
          </a:xfrm>
          <a:prstGeom prst="roundRect">
            <a:avLst>
              <a:gd name="adj" fmla="val 7894"/>
            </a:avLst>
          </a:prstGeom>
          <a:solidFill>
            <a:srgbClr val="1A2436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84591" y="3259931"/>
            <a:ext cx="3583483" cy="971550"/>
          </a:xfrm>
          <a:prstGeom prst="roundRect">
            <a:avLst>
              <a:gd name="adj" fmla="val 7843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400675"/>
            <a:ext cx="3312318" cy="923925"/>
          </a:xfrm>
          <a:prstGeom prst="roundRect">
            <a:avLst>
              <a:gd name="adj" fmla="val 8247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50518" y="5400675"/>
            <a:ext cx="3312318" cy="923925"/>
          </a:xfrm>
          <a:prstGeom prst="roundRect">
            <a:avLst>
              <a:gd name="adj" fmla="val 8247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91437" y="5400675"/>
            <a:ext cx="3890962" cy="923925"/>
          </a:xfrm>
          <a:prstGeom prst="roundRect">
            <a:avLst>
              <a:gd name="adj" fmla="val 8247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533400"/>
            <a:ext cx="1606599" cy="2286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400675"/>
            <a:ext cx="38100" cy="92392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50518" y="5400675"/>
            <a:ext cx="38100" cy="92392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91437" y="5400675"/>
            <a:ext cx="38100" cy="92392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408" y="3631406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741" y="3631406"/>
            <a:ext cx="17784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762000"/>
            <a:ext cx="1010126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b="1" sz="2850" i="0" u="none">
                <a:solidFill>
                  <a:srgbClr val="FFFFFF"/>
                </a:solidFill>
                <a:latin typeface="Noto Sans KR"/>
              </a:rPr>
              <a:t>효능평가 데이터를 표준화해</a:t>
            </a:r>
            <a:r>
              <a:t>
</a:t>
            </a:r>
            <a:r>
              <a:rPr b="1" sz="2850" i="0" u="none">
                <a:solidFill>
                  <a:srgbClr val="14B8A6"/>
                </a:solidFill>
                <a:latin typeface="Noto Sans KR"/>
              </a:rPr>
              <a:t>팀 연구를 이끄는</a:t>
            </a:r>
            <a:r>
              <a:rPr b="1" sz="2850" i="0" u="none">
                <a:solidFill>
                  <a:srgbClr val="FFFFFF"/>
                </a:solidFill>
                <a:latin typeface="Noto Sans KR"/>
              </a:rPr>
              <a:t> 바이오 R&amp;D 연구자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819275"/>
            <a:ext cx="10715625" cy="271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CBD5E1"/>
                </a:solidFill>
                <a:latin typeface="Noto Sans KR"/>
              </a:rPr>
              <a:t>바이오 R&amp;D 8년의 실험·분석 경험을 기반으로 개인의 문제해결을 팀 연구 프로세스로 확장해 온 연구자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71500"/>
            <a:ext cx="14732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Noto Sans KR"/>
              </a:rPr>
              <a:t>CAREER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2399" y="557212"/>
            <a:ext cx="1964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Noto Sans KR"/>
              </a:rPr>
              <a:t>바이오·의료 R&amp;D 연구직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614" y="3421856"/>
            <a:ext cx="400310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4A3B8"/>
                </a:solidFill>
                <a:latin typeface="Noto Sans KR"/>
              </a:rPr>
              <a:t>STEP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614" y="3612356"/>
            <a:ext cx="400310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Noto Sans KR"/>
              </a:rPr>
              <a:t>Experiment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614" y="3898106"/>
            <a:ext cx="400310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KR"/>
              </a:rPr>
              <a:t>실험 설계 및 수행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3947" y="3421856"/>
            <a:ext cx="400310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4A3B8"/>
                </a:solidFill>
                <a:latin typeface="Noto Sans KR"/>
              </a:rPr>
              <a:t>STEP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3947" y="3612356"/>
            <a:ext cx="400310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Noto Sans KR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3947" y="3898106"/>
            <a:ext cx="400310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KR"/>
              </a:rPr>
              <a:t>원인 분석 및 데이터 해석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4780" y="3412331"/>
            <a:ext cx="400310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E0E7FF"/>
                </a:solidFill>
                <a:latin typeface="Noto Sans KR"/>
              </a:rPr>
              <a:t>STEP 03 (강조)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4780" y="3621881"/>
            <a:ext cx="400310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Noto Sans KR"/>
              </a:rPr>
              <a:t>Standardization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4780" y="3907631"/>
            <a:ext cx="400310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CFBF1"/>
                </a:solidFill>
                <a:latin typeface="Noto Sans KR"/>
              </a:rPr>
              <a:t>팀 SOP 표준화 &amp;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5553075"/>
            <a:ext cx="361652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Noto Sans KR"/>
              </a:rPr>
              <a:t>경력 사항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5762625"/>
            <a:ext cx="36165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Noto Sans KR"/>
              </a:rPr>
              <a:t>바이오 R&amp;D 8년 </a:t>
            </a:r>
            <a:r>
              <a:rPr b="0" sz="1050" i="0" u="none">
                <a:solidFill>
                  <a:srgbClr val="CBD5E1"/>
                </a:solidFill>
                <a:latin typeface="Noto Sans KR"/>
              </a:rPr>
              <a:t>(2018.09 ~ 현재)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118" y="5553075"/>
            <a:ext cx="361652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Noto Sans KR"/>
              </a:rPr>
              <a:t>학력 사항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118" y="5762625"/>
            <a:ext cx="36165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Noto Sans KR"/>
              </a:rPr>
              <a:t>생명공학 석사 </a:t>
            </a:r>
            <a:r>
              <a:rPr b="0" sz="1050" i="0" u="none">
                <a:solidFill>
                  <a:srgbClr val="CBD5E1"/>
                </a:solidFill>
                <a:latin typeface="Noto Sans KR"/>
              </a:rPr>
              <a:t>(2016.03 ~ 2018.08)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37" y="5553075"/>
            <a:ext cx="42719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Noto Sans KR"/>
              </a:rPr>
              <a:t>Target Position &amp; 인적사항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37" y="5762625"/>
            <a:ext cx="42719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Noto Sans KR"/>
              </a:rPr>
              <a:t>바이오·의료 R&amp;D 선임/책임급 (Project Leader)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0037" y="6000750"/>
            <a:ext cx="42719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Noto Sans KR"/>
              </a:rPr>
              <a:t>이름·연락처: [직접 입력]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109728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14825"/>
            <a:ext cx="10972800" cy="2085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314825"/>
            <a:ext cx="38100" cy="20859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2009775"/>
            <a:ext cx="3098006" cy="100012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8764" y="2009775"/>
            <a:ext cx="3098006" cy="100012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73603" y="1971675"/>
            <a:ext cx="3394471" cy="1076325"/>
          </a:xfrm>
          <a:prstGeom prst="roundRect">
            <a:avLst>
              <a:gd name="adj" fmla="val 8849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3790950"/>
            <a:ext cx="1392287" cy="33337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16187" y="3790950"/>
            <a:ext cx="1344662" cy="33337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5149" y="3790950"/>
            <a:ext cx="916037" cy="33337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05486" y="3790950"/>
            <a:ext cx="1072306" cy="33337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92092" y="3790950"/>
            <a:ext cx="1527274" cy="33337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53840" y="2171700"/>
            <a:ext cx="638175" cy="18097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8679" y="2171700"/>
            <a:ext cx="638175" cy="18097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69437" y="2143125"/>
            <a:ext cx="1002655" cy="20955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657350"/>
            <a:ext cx="111174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33775"/>
            <a:ext cx="111174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231" y="2409825"/>
            <a:ext cx="148232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070" y="2409825"/>
            <a:ext cx="148232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Noto Sans KR"/>
              </a:rPr>
              <a:t>자기소개·핵심역량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923925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D9488"/>
                </a:solidFill>
                <a:latin typeface="Noto Sans KR"/>
              </a:rPr>
              <a:t>실험 수행에서 데이터 해석·연구 운영까지 확장한 8년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1638300"/>
            <a:ext cx="11268075" cy="180975"/>
          </a:xfrm>
          <a:prstGeom prst="rect">
            <a:avLst/>
          </a:prstGeom>
          <a:noFill/>
        </p:spPr>
        <p:txBody>
          <a:bodyPr wrap="none" lIns="187374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가로형 Career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514725"/>
            <a:ext cx="11582400" cy="180975"/>
          </a:xfrm>
          <a:prstGeom prst="rect">
            <a:avLst/>
          </a:prstGeom>
          <a:noFill/>
        </p:spPr>
        <p:txBody>
          <a:bodyPr wrap="none" lIns="187374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핵심역량 칩 (5대 영역)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867150"/>
            <a:ext cx="11827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Noto Sans KR"/>
              </a:rPr>
              <a:t>in vitro 효능평가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8587" y="3867150"/>
            <a:ext cx="11351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Noto Sans KR"/>
              </a:rPr>
              <a:t>바이오마커 분석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7549" y="3867150"/>
            <a:ext cx="70648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Noto Sans KR"/>
              </a:rPr>
              <a:t>원인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7886" y="3867150"/>
            <a:ext cx="86275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Noto Sans KR"/>
              </a:rPr>
              <a:t>SOP 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4492" y="3867150"/>
            <a:ext cx="131772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Noto Sans KR"/>
              </a:rPr>
              <a:t>연구 프로젝트 운영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4844504"/>
            <a:ext cx="11353800" cy="2914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b="1" sz="1275" i="0" u="none">
                <a:solidFill>
                  <a:srgbClr val="1E293B"/>
                </a:solidFill>
                <a:latin typeface="Noto Sans KR"/>
              </a:rPr>
              <a:t>① in vitro 효능평가·바이오마커 분석:</a:t>
            </a:r>
            <a:r>
              <a:rPr b="0" sz="1275" i="0" u="none">
                <a:solidFill>
                  <a:srgbClr val="1E293B"/>
                </a:solidFill>
                <a:latin typeface="Noto Sans KR"/>
              </a:rPr>
              <a:t> Cell culture, qPCR, Western blot, ELISA, Flow cytometry 기반 실험 설계·분석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5212109"/>
            <a:ext cx="11353800" cy="2914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b="1" sz="1275" i="0" u="none">
                <a:solidFill>
                  <a:srgbClr val="1E293B"/>
                </a:solidFill>
                <a:latin typeface="Noto Sans KR"/>
              </a:rPr>
              <a:t>② 원인 분석·SOP 표준화:</a:t>
            </a:r>
            <a:r>
              <a:rPr b="0" sz="1275" i="0" u="none">
                <a:solidFill>
                  <a:srgbClr val="1E293B"/>
                </a:solidFill>
                <a:latin typeface="Noto Sans KR"/>
              </a:rPr>
              <a:t> 조건별 데이터 비교 → 원인 후보 도출 → 개선 우선순위 판단 → 팀 공통 SOP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5579715"/>
            <a:ext cx="11353800" cy="2914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b="1" sz="1275" i="0" u="none">
                <a:solidFill>
                  <a:srgbClr val="1E293B"/>
                </a:solidFill>
                <a:latin typeface="Noto Sans KR"/>
              </a:rPr>
              <a:t>③ 경력 확장:</a:t>
            </a:r>
            <a:r>
              <a:rPr b="0" sz="1275" i="0" u="none">
                <a:solidFill>
                  <a:srgbClr val="1E293B"/>
                </a:solidFill>
                <a:latin typeface="Noto Sans KR"/>
              </a:rPr>
              <a:t> A사(효능평가·재현성) → B사(바이오마커 분석·외부 협업) → C사(데이터 리뷰·SOP 표준화·연구 프로젝트 운영)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6215" y="2190750"/>
            <a:ext cx="7334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475569"/>
                </a:solidFill>
                <a:latin typeface="Noto Sans KR"/>
              </a:rPr>
              <a:t>2018.09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80" y="2409825"/>
            <a:ext cx="346769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Noto Sans KR"/>
              </a:rPr>
              <a:t>A사 연구원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80" y="2676525"/>
            <a:ext cx="346769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Noto Sans KR"/>
              </a:rPr>
              <a:t>실험·재현성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1054" y="2190750"/>
            <a:ext cx="7334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475569"/>
                </a:solidFill>
                <a:latin typeface="Noto Sans KR"/>
              </a:rPr>
              <a:t>2020.09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3919" y="2409825"/>
            <a:ext cx="346769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Noto Sans KR"/>
              </a:rPr>
              <a:t>B사 연구원 → 선임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3919" y="2676525"/>
            <a:ext cx="346769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Noto Sans KR"/>
              </a:rPr>
              <a:t>분석·협업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1812" y="2162175"/>
            <a:ext cx="109790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Noto Sans KR"/>
              </a:rPr>
              <a:t>2023.09 (현재)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3606" y="2409825"/>
            <a:ext cx="381446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Noto Sans KR"/>
              </a:rPr>
              <a:t>C사 선임연구원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3606" y="2695575"/>
            <a:ext cx="381446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2027"/>
                </a:solidFill>
                <a:latin typeface="Noto Sans KR"/>
              </a:rPr>
              <a:t>표준화·운영 (핵심)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23975"/>
            <a:ext cx="10972800" cy="42862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23975"/>
            <a:ext cx="38100" cy="4286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943100"/>
            <a:ext cx="2425451" cy="4457700"/>
          </a:xfrm>
          <a:prstGeom prst="roundRect">
            <a:avLst>
              <a:gd name="adj" fmla="val 314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82267" y="1943100"/>
            <a:ext cx="2425451" cy="4457700"/>
          </a:xfrm>
          <a:prstGeom prst="roundRect">
            <a:avLst>
              <a:gd name="adj" fmla="val 314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4935" y="1943100"/>
            <a:ext cx="2654647" cy="4457700"/>
          </a:xfrm>
          <a:prstGeom prst="roundRect">
            <a:avLst>
              <a:gd name="adj" fmla="val 2870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56799" y="1943100"/>
            <a:ext cx="2425451" cy="4457700"/>
          </a:xfrm>
          <a:prstGeom prst="roundRect">
            <a:avLst>
              <a:gd name="adj" fmla="val 314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1525" y="5670500"/>
            <a:ext cx="2101601" cy="5683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44192" y="5670500"/>
            <a:ext cx="2101601" cy="5683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385" y="5660975"/>
            <a:ext cx="2311747" cy="5683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18724" y="5670500"/>
            <a:ext cx="2101601" cy="56837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1525" y="2105025"/>
            <a:ext cx="576857" cy="219075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1525" y="5670500"/>
            <a:ext cx="210160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4192" y="2105025"/>
            <a:ext cx="576857" cy="219075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4192" y="5670500"/>
            <a:ext cx="210160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6385" y="2114550"/>
            <a:ext cx="1223516" cy="247650"/>
          </a:xfrm>
          <a:prstGeom prst="roundRect">
            <a:avLst>
              <a:gd name="adj" fmla="val 15384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26385" y="5660975"/>
            <a:ext cx="2311747" cy="952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18724" y="2105025"/>
            <a:ext cx="576857" cy="219075"/>
          </a:xfrm>
          <a:prstGeom prst="roundRect">
            <a:avLst>
              <a:gd name="adj" fmla="val 1739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18724" y="5670500"/>
            <a:ext cx="210160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351" y="4095750"/>
            <a:ext cx="118616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019" y="4095750"/>
            <a:ext cx="118616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883" y="4095750"/>
            <a:ext cx="118616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Noto Sans KR"/>
              </a:rPr>
              <a:t>대표 프로젝트 ① 문제와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9048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9488"/>
                </a:solidFill>
                <a:latin typeface="Noto Sans KR"/>
              </a:rPr>
              <a:t>반복 실험 편차가 효능·기전 판단을 막고 있었고, 데이터로 우선순위를 정해 해결함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1438275"/>
            <a:ext cx="1135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KR"/>
              </a:rPr>
              <a:t>문제 정의:</a:t>
            </a:r>
            <a:r>
              <a:rPr b="1" sz="1200" i="0" u="none">
                <a:solidFill>
                  <a:srgbClr val="0F172A"/>
                </a:solidFill>
                <a:latin typeface="Noto Sans KR"/>
              </a:rPr>
              <a:t> 연구원별 실험 방식 차이로 인한 반복 실험 편차가 팀 단위로 반복되어 후보물질 효능·기전 비교 판단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143125"/>
            <a:ext cx="51970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Noto Sans KR"/>
              </a:rPr>
              <a:t>STEP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2419350"/>
            <a:ext cx="26270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KR"/>
              </a:rPr>
              <a:t>조건·결과 구조화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525" y="2695575"/>
            <a:ext cx="2196851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334155"/>
                </a:solidFill>
                <a:latin typeface="Noto Sans KR"/>
              </a:rPr>
              <a:t>[한 일]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Noto Sans KR"/>
              </a:rPr>
              <a:t> 팀원별 세포 계대수·처리 시점·측정 시점과 qPCR·Western blot 결과를 표로 정리함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525" y="5756225"/>
            <a:ext cx="2196851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1" sz="975" i="0" u="none">
                <a:solidFill>
                  <a:srgbClr val="64748B"/>
                </a:solidFill>
                <a:latin typeface="Noto Sans KR"/>
              </a:rPr>
              <a:t>[판단 근거]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Noto Sans KR"/>
              </a:rPr>
              <a:t> 연구원마다 달랐던 실험조건과 결과를 동일 기준에서 비교하기 위함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0392" y="2143125"/>
            <a:ext cx="51970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Noto Sans KR"/>
              </a:rPr>
              <a:t>STEP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4192" y="2419350"/>
            <a:ext cx="26270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KR"/>
              </a:rPr>
              <a:t>편차 구간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4192" y="2695575"/>
            <a:ext cx="2196851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334155"/>
                </a:solidFill>
                <a:latin typeface="Noto Sans KR"/>
              </a:rPr>
              <a:t>[한 일]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Noto Sans KR"/>
              </a:rPr>
              <a:t> 정리한 데이터를 GraphPad Prism으로 비교하여 편차가 큰 구간을 확인함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4192" y="5756225"/>
            <a:ext cx="2196851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1" sz="975" i="0" u="none">
                <a:solidFill>
                  <a:srgbClr val="64748B"/>
                </a:solidFill>
                <a:latin typeface="Noto Sans KR"/>
              </a:rPr>
              <a:t>[판단 근거]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Noto Sans KR"/>
              </a:rPr>
              <a:t> 변수가 여러 개라 편차가 커지는 조건의 범위를 먼저 좁히기 위함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2585" y="2152650"/>
            <a:ext cx="1166366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Noto Sans KR"/>
              </a:rPr>
              <a:t>STEP 3 (핵심 결정)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6385" y="2457450"/>
            <a:ext cx="28896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우선 통제 변수 결정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6385" y="2752725"/>
            <a:ext cx="2406997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0F2027"/>
                </a:solidFill>
                <a:latin typeface="Noto Sans KR"/>
              </a:rPr>
              <a:t>[한 일]</a:t>
            </a:r>
            <a:r>
              <a:t>
</a:t>
            </a:r>
            <a:r>
              <a:rPr b="0" sz="1050" i="0" u="none">
                <a:solidFill>
                  <a:srgbClr val="0F2027"/>
                </a:solidFill>
                <a:latin typeface="Noto Sans KR"/>
              </a:rPr>
              <a:t> 실험 자원이 제한된 상황에서 세포 계대수를 가장 먼저 통제함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6385" y="5746700"/>
            <a:ext cx="2406997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1" sz="975" i="0" u="none">
                <a:solidFill>
                  <a:srgbClr val="0F766E"/>
                </a:solidFill>
                <a:latin typeface="Noto Sans KR"/>
              </a:rPr>
              <a:t>[판단 근거]</a:t>
            </a:r>
            <a:r>
              <a:t>
</a:t>
            </a:r>
            <a:r>
              <a:rPr b="1" sz="975" i="0" u="none">
                <a:solidFill>
                  <a:srgbClr val="0F766E"/>
                </a:solidFill>
                <a:latin typeface="Noto Sans KR"/>
              </a:rPr>
              <a:t> 계대수별 데이터 편차가 가장 컸고 배양 단계에서 바로 변경 가능했기 때문임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4924" y="2143125"/>
            <a:ext cx="51970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Noto Sans KR"/>
              </a:rP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8724" y="2419350"/>
            <a:ext cx="262700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Noto Sans KR"/>
              </a:rPr>
              <a:t>SOP 작성·확정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8724" y="2695575"/>
            <a:ext cx="2196851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334155"/>
                </a:solidFill>
                <a:latin typeface="Noto Sans KR"/>
              </a:rPr>
              <a:t>[한 일]</a:t>
            </a:r>
            <a:r>
              <a:t>
</a:t>
            </a:r>
            <a:r>
              <a:rPr b="0" sz="1050" i="0" u="none">
                <a:solidFill>
                  <a:srgbClr val="334155"/>
                </a:solidFill>
                <a:latin typeface="Noto Sans KR"/>
              </a:rPr>
              <a:t> 원인 분석 방식으로 SOP 초안 작성, 비교 실험 후 데이터 리뷰 회의 합의 확정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8724" y="5756225"/>
            <a:ext cx="2196851" cy="4826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b="1" sz="975" i="0" u="none">
                <a:solidFill>
                  <a:srgbClr val="64748B"/>
                </a:solidFill>
                <a:latin typeface="Noto Sans KR"/>
              </a:rPr>
              <a:t>[판단 근거]</a:t>
            </a:r>
            <a:r>
              <a:t>
</a:t>
            </a:r>
            <a:r>
              <a:rPr b="0" sz="975" i="0" u="none">
                <a:solidFill>
                  <a:srgbClr val="64748B"/>
                </a:solidFill>
                <a:latin typeface="Noto Sans KR"/>
              </a:rPr>
              <a:t> 의견이 아닌 실제 비교 데이터를 근거로 팀 공통 기준 수립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81125"/>
            <a:ext cx="5068788" cy="5019675"/>
          </a:xfrm>
          <a:prstGeom prst="roundRect">
            <a:avLst>
              <a:gd name="adj" fmla="val 22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95950"/>
            <a:ext cx="4459188" cy="400050"/>
          </a:xfrm>
          <a:prstGeom prst="roundRect">
            <a:avLst>
              <a:gd name="adj" fmla="val 14285"/>
            </a:avLst>
          </a:prstGeom>
          <a:solidFill>
            <a:srgbClr val="22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06988" y="1381125"/>
            <a:ext cx="2761505" cy="2433637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0894" y="1381125"/>
            <a:ext cx="2761505" cy="2433637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06988" y="3967162"/>
            <a:ext cx="2761505" cy="2433637"/>
          </a:xfrm>
          <a:prstGeom prst="roundRect">
            <a:avLst>
              <a:gd name="adj" fmla="val 39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20894" y="3967162"/>
            <a:ext cx="2761505" cy="2433637"/>
          </a:xfrm>
          <a:prstGeom prst="roundRect">
            <a:avLst>
              <a:gd name="adj" fmla="val 3913"/>
            </a:avLst>
          </a:prstGeom>
          <a:solidFill>
            <a:srgbClr val="CCFBF1"/>
          </a:solidFill>
          <a:ln w="952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13" y="2183606"/>
            <a:ext cx="177849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919" y="2183606"/>
            <a:ext cx="177849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013" y="4769643"/>
            <a:ext cx="177849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919" y="4779168"/>
            <a:ext cx="177849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3732" y="3757612"/>
            <a:ext cx="237083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Noto Sans KR"/>
              </a:rPr>
              <a:t>대표 프로젝트 ②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04875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D9488"/>
                </a:solidFill>
                <a:latin typeface="Noto Sans KR"/>
              </a:rPr>
              <a:t>CV 약 25% → 10% 이내, 개인의 개선을 팀 연구 기준으로 확장함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85925"/>
            <a:ext cx="557398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B8A6"/>
                </a:solidFill>
                <a:latin typeface="Noto Sans KR"/>
              </a:rPr>
              <a:t>EVIDENCE : 반복 실험 변동계수(CV)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981200"/>
            <a:ext cx="55739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FFFFFF"/>
                </a:solidFill>
                <a:latin typeface="Noto Sans KR"/>
              </a:rPr>
              <a:t>표준화 전/후 비교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001" y="4281487"/>
            <a:ext cx="55739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CBD5E1"/>
                </a:solidFill>
                <a:latin typeface="Noto Sans KR"/>
              </a:rPr>
              <a:t>실험 간 CV 대폭 감소 및 재실험 요청 축소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5810250"/>
            <a:ext cx="528823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Noto Sans KR"/>
              </a:rPr>
              <a:t>* 비교 기준: 표준화 전 3개월 및 후 3개월의 실험노트·데이터 리뷰 자료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7013" y="2507456"/>
            <a:ext cx="295181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Noto Sans KR"/>
              </a:rPr>
              <a:t>팀원 4명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7013" y="2850356"/>
            <a:ext cx="29518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표준 SOP 직접 적용 및 확산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0919" y="2507456"/>
            <a:ext cx="295181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Noto Sans KR"/>
              </a:rPr>
              <a:t>2개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0919" y="2850356"/>
            <a:ext cx="29518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팀 주요 연구 과제 파이프라인 확장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7013" y="5093493"/>
            <a:ext cx="295181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Noto Sans KR"/>
              </a:rPr>
              <a:t>온보딩 자료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7013" y="5436393"/>
            <a:ext cx="29518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신규 연구원 표준 교육 자료로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0919" y="5103018"/>
            <a:ext cx="295181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2025.01 수상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0919" y="5426868"/>
            <a:ext cx="295181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766E"/>
                </a:solidFill>
                <a:latin typeface="Noto Sans KR"/>
              </a:rPr>
              <a:t>사내 우수 연구 개선상 수상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762" y="3652837"/>
            <a:ext cx="1086445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94A3B8"/>
                </a:solidFill>
                <a:latin typeface="Noto Sans KR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7699" y="3462337"/>
            <a:ext cx="2955168" cy="742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350" i="0" u="none">
                <a:solidFill>
                  <a:srgbClr val="14B8A6"/>
                </a:solidFill>
                <a:latin typeface="Noto Sans KR"/>
              </a:rPr>
              <a:t>10% 이내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81125"/>
            <a:ext cx="5381625" cy="5019675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9825" y="1381125"/>
            <a:ext cx="5362575" cy="5019675"/>
          </a:xfrm>
          <a:prstGeom prst="roundRect">
            <a:avLst>
              <a:gd name="adj" fmla="val 22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5350" y="1666875"/>
            <a:ext cx="1226939" cy="219075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" y="2476500"/>
            <a:ext cx="4810125" cy="619125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" y="3228975"/>
            <a:ext cx="4810125" cy="819150"/>
          </a:xfrm>
          <a:prstGeom prst="roundRect">
            <a:avLst>
              <a:gd name="adj" fmla="val 697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5350" y="4181475"/>
            <a:ext cx="4810125" cy="619125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6050" y="1657350"/>
            <a:ext cx="1226939" cy="219075"/>
          </a:xfrm>
          <a:prstGeom prst="roundRect">
            <a:avLst>
              <a:gd name="adj" fmla="val 17391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6050" y="2466975"/>
            <a:ext cx="4810125" cy="619125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6050" y="3219450"/>
            <a:ext cx="4810125" cy="619125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6050" y="3971925"/>
            <a:ext cx="4810125" cy="619125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5350" y="3228975"/>
            <a:ext cx="38100" cy="8191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Noto Sans KR"/>
              </a:rPr>
              <a:t>주요 프로젝트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04875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D9488"/>
                </a:solidFill>
                <a:latin typeface="Noto Sans KR"/>
              </a:rPr>
              <a:t>같은 데이터 역량을 다른 과제에서도 증명함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2000250"/>
            <a:ext cx="631328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B사 바이오마커 발현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1990725"/>
            <a:ext cx="56959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Noto Sans KR"/>
              </a:rPr>
              <a:t>A사 효능평가·재현성 개선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1704975"/>
            <a:ext cx="113168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Noto Sans KR"/>
              </a:rPr>
              <a:t>2021.01 ~ 2022.12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8675" y="1690687"/>
            <a:ext cx="1352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Noto Sans KR"/>
              </a:rPr>
              <a:t>B사 연구원→선임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1695450"/>
            <a:ext cx="113168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Noto Sans KR"/>
              </a:rPr>
              <a:t>2018.09 ~ 2020.08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9425" y="1681162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Noto Sans KR"/>
              </a:rPr>
              <a:t>A사 연구원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50" y="2590800"/>
            <a:ext cx="5631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Noto Sans KR"/>
              </a:rPr>
              <a:t>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2781300"/>
            <a:ext cx="5631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Noto Sans KR"/>
              </a:rPr>
              <a:t>처리군별 바이오마커 발현 차이에 따른 작용기전(MOA) 검증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5850" y="3343275"/>
            <a:ext cx="5584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766E"/>
                </a:solidFill>
                <a:latin typeface="Noto Sans KR"/>
              </a:rPr>
              <a:t>내 역할 (강조)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" y="3533775"/>
            <a:ext cx="45624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2027"/>
                </a:solidFill>
                <a:latin typeface="Noto Sans KR"/>
              </a:rPr>
              <a:t>처리군별 발현 데이터 분석 → 바이오마커 후보·MOA 가설 검토 근거 제공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4295775"/>
            <a:ext cx="5631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Noto Sans KR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" y="4486275"/>
            <a:ext cx="5631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Noto Sans KR"/>
              </a:rPr>
              <a:t>2022.10 국내 학회 포스터 발표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2581275"/>
            <a:ext cx="5543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Noto Sans KR"/>
              </a:rPr>
              <a:t>문제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8450" y="2771775"/>
            <a:ext cx="5543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Noto Sans KR"/>
              </a:rPr>
              <a:t>세포 기반 효능평가의 편차 발생 및 재현성 확보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8450" y="3333750"/>
            <a:ext cx="5543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Noto Sans KR"/>
              </a:rPr>
              <a:t>내 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8450" y="3524250"/>
            <a:ext cx="5543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Noto Sans KR"/>
              </a:rPr>
              <a:t>세포 기반 효능평가 설계와 편차 원인 분석 및 프로토콜 개선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8450" y="4086225"/>
            <a:ext cx="5543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Noto Sans KR"/>
              </a:rPr>
              <a:t>결과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8450" y="4276725"/>
            <a:ext cx="5543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Noto Sans KR"/>
              </a:rPr>
              <a:t>후속 검증 후보군 논의 근거 제공 · 국내 특허 출원 공동 발명자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81125"/>
            <a:ext cx="3169741" cy="5019675"/>
          </a:xfrm>
          <a:prstGeom prst="roundRect">
            <a:avLst>
              <a:gd name="adj" fmla="val 300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32374" y="1381125"/>
            <a:ext cx="3169741" cy="5019675"/>
          </a:xfrm>
          <a:prstGeom prst="roundRect">
            <a:avLst>
              <a:gd name="adj" fmla="val 300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55148" y="1381125"/>
            <a:ext cx="3727400" cy="5019675"/>
          </a:xfrm>
          <a:prstGeom prst="roundRect">
            <a:avLst>
              <a:gd name="adj" fmla="val 2555"/>
            </a:avLst>
          </a:prstGeom>
          <a:solidFill>
            <a:srgbClr val="CCFBF1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1619250"/>
            <a:ext cx="2693491" cy="276225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0499" y="1619250"/>
            <a:ext cx="2693491" cy="276225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02798" y="1628775"/>
            <a:ext cx="3232100" cy="295275"/>
          </a:xfrm>
          <a:prstGeom prst="roundRect">
            <a:avLst>
              <a:gd name="adj" fmla="val 12903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2798" y="2528887"/>
            <a:ext cx="323210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02798" y="3500437"/>
            <a:ext cx="323210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02798" y="4471987"/>
            <a:ext cx="3232100" cy="5429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02798" y="5443537"/>
            <a:ext cx="3232100" cy="542925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02798" y="2528887"/>
            <a:ext cx="28575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2798" y="3500437"/>
            <a:ext cx="28575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2798" y="4471987"/>
            <a:ext cx="28575" cy="5429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741" y="3795712"/>
            <a:ext cx="148232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515" y="3795712"/>
            <a:ext cx="148232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400300"/>
            <a:ext cx="118616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705100"/>
            <a:ext cx="118616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009900"/>
            <a:ext cx="118616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314700"/>
            <a:ext cx="118616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619500"/>
            <a:ext cx="118616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924300"/>
            <a:ext cx="118616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29100"/>
            <a:ext cx="118616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99" y="2419350"/>
            <a:ext cx="118616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99" y="2754510"/>
            <a:ext cx="118616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99" y="3089671"/>
            <a:ext cx="118616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99" y="3424832"/>
            <a:ext cx="118616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99" y="3759993"/>
            <a:ext cx="118616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600" y="45720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Noto Sans KR"/>
              </a:rPr>
              <a:t>보유 기술·연구성과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904875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D9488"/>
                </a:solidFill>
                <a:latin typeface="Noto Sans KR"/>
              </a:rPr>
              <a:t>실험·분석·연구 운영을 실제 연구 결과물로 연결함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338" y="1676400"/>
            <a:ext cx="313826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Noto Sans KR"/>
              </a:rPr>
              <a:t>01. Experimental &amp; Analytical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2047875"/>
            <a:ext cx="33668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Noto Sans KR"/>
              </a:rPr>
              <a:t>실험기법 역량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8112" y="1676400"/>
            <a:ext cx="313826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Noto Sans KR"/>
              </a:rPr>
              <a:t>02. Research Operation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0499" y="2047875"/>
            <a:ext cx="336686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Noto Sans KR"/>
              </a:rPr>
              <a:t>데이터 분석·리뷰·SOP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3085" y="1685925"/>
            <a:ext cx="38115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FFFFFF"/>
                </a:solidFill>
                <a:latin typeface="Noto Sans KR"/>
              </a:rPr>
              <a:t>03. Research Outputs (최종 성과)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2798" y="2076450"/>
            <a:ext cx="4040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Noto Sans KR"/>
              </a:rPr>
              <a:t>논문·특허·학회 발표·수상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25" y="2333625"/>
            <a:ext cx="3366864" cy="30480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Cell culture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725" y="2638425"/>
            <a:ext cx="3366864" cy="30480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in vitro cell-based assay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2943225"/>
            <a:ext cx="3366864" cy="30480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qPCR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3248025"/>
            <a:ext cx="3366864" cy="30480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Western blot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3552825"/>
            <a:ext cx="3366864" cy="30480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ELISA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3857625"/>
            <a:ext cx="3366864" cy="30480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Flow cytometry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725" y="4162425"/>
            <a:ext cx="3366864" cy="30480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GraphPad Prism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70499" y="2333625"/>
            <a:ext cx="3366864" cy="33516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실험계획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0499" y="2668785"/>
            <a:ext cx="3366864" cy="33516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데이터 리뷰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70499" y="3003946"/>
            <a:ext cx="3366864" cy="33516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프로토콜 / SOP 표준화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0499" y="3339107"/>
            <a:ext cx="3366864" cy="33516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연구 프로젝트 운영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70499" y="3674268"/>
            <a:ext cx="3366864" cy="335160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200" i="0" u="none">
                <a:solidFill>
                  <a:srgbClr val="1E293B"/>
                </a:solidFill>
                <a:latin typeface="Noto Sans KR"/>
              </a:rPr>
              <a:t>외부 시험기관 협업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4723" y="2624137"/>
            <a:ext cx="3671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국내 학술지 논문 공동저자 1편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4723" y="2805112"/>
            <a:ext cx="3671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2018년 게재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4723" y="3595687"/>
            <a:ext cx="3671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국내 특허 출원 공동 발명 1건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4723" y="3776662"/>
            <a:ext cx="3671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2020년 출원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4723" y="4567237"/>
            <a:ext cx="3671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국내 학회 포스터 발표 1건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64723" y="4748212"/>
            <a:ext cx="3671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2022년 발표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6148" y="5538787"/>
            <a:ext cx="3706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Noto Sans KR"/>
              </a:rPr>
              <a:t>사내 우수 연구 개선상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6148" y="5719762"/>
            <a:ext cx="3706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CFBF1"/>
                </a:solidFill>
                <a:latin typeface="Noto Sans KR"/>
              </a:rPr>
              <a:t>2025.01 수상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